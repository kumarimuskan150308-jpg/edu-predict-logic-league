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188720"/>
            <a:ext cx="7315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2242B"/>
                </a:solidFill>
                <a:latin typeface="Aptos"/>
              </a:rPr>
              <a:t>EduPredict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47BE"/>
                </a:solidFill>
                <a:latin typeface="Aptos"/>
              </a:rPr>
              <a:t>AI-Based Student Success &amp; Early Risk Prediction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3246120"/>
            <a:ext cx="3063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3246120"/>
            <a:ext cx="59436" cy="105156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47288"/>
            <a:ext cx="2624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813048"/>
            <a:ext cx="262432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AI/ML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3246120"/>
            <a:ext cx="3063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6512" y="3246120"/>
            <a:ext cx="59436" cy="105156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3447288"/>
            <a:ext cx="2624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3813048"/>
            <a:ext cx="262432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Predict early. Intervene 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8352" y="3246120"/>
            <a:ext cx="3063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88352" y="3246120"/>
            <a:ext cx="59436" cy="105156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3447288"/>
            <a:ext cx="2624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3813048"/>
            <a:ext cx="262432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Early risk + personalized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Academic problems are often identified too late.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383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59436" cy="14173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82496"/>
            <a:ext cx="2944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Student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48256"/>
            <a:ext cx="2944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Students may realize they are struggling only after marks have already fallen.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81328"/>
            <a:ext cx="3383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81328"/>
            <a:ext cx="59436" cy="14173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82496"/>
            <a:ext cx="2944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Monitoring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48256"/>
            <a:ext cx="2944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Teachers cannot manually monitor every student's attendance, marks, assignments and study habits.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481328"/>
            <a:ext cx="3383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481328"/>
            <a:ext cx="59436" cy="14173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682496"/>
            <a:ext cx="2944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The central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48256"/>
            <a:ext cx="2944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A single low score does not explain the underlying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86200"/>
            <a:ext cx="23317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41063"/>
            <a:ext cx="218541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242B"/>
                </a:solidFill>
                <a:latin typeface="Aptos"/>
              </a:rPr>
              <a:t>Student data</a:t>
            </a:r>
          </a:p>
        </p:txBody>
      </p:sp>
      <p:sp>
        <p:nvSpPr>
          <p:cNvPr id="18" name="Chevron 17"/>
          <p:cNvSpPr/>
          <p:nvPr/>
        </p:nvSpPr>
        <p:spPr>
          <a:xfrm>
            <a:off x="3072384" y="4105656"/>
            <a:ext cx="201168" cy="274320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00984" y="3886200"/>
            <a:ext cx="23317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941063"/>
            <a:ext cx="218541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242B"/>
                </a:solidFill>
                <a:latin typeface="Aptos"/>
              </a:rPr>
              <a:t>Late signal</a:t>
            </a:r>
          </a:p>
        </p:txBody>
      </p:sp>
      <p:sp>
        <p:nvSpPr>
          <p:cNvPr id="21" name="Chevron 20"/>
          <p:cNvSpPr/>
          <p:nvPr/>
        </p:nvSpPr>
        <p:spPr>
          <a:xfrm>
            <a:off x="5660136" y="4105656"/>
            <a:ext cx="201168" cy="274320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88736" y="3886200"/>
            <a:ext cx="23317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1888" y="3941063"/>
            <a:ext cx="218541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242B"/>
                </a:solidFill>
                <a:latin typeface="Aptos"/>
              </a:rPr>
              <a:t>Risk missed</a:t>
            </a:r>
          </a:p>
        </p:txBody>
      </p:sp>
      <p:sp>
        <p:nvSpPr>
          <p:cNvPr id="24" name="Chevron 23"/>
          <p:cNvSpPr/>
          <p:nvPr/>
        </p:nvSpPr>
        <p:spPr>
          <a:xfrm>
            <a:off x="8247888" y="4105656"/>
            <a:ext cx="201168" cy="274320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76488" y="3886200"/>
            <a:ext cx="23317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941063"/>
            <a:ext cx="2185415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2242B"/>
                </a:solidFill>
                <a:latin typeface="Aptos"/>
              </a:rPr>
              <a:t>Delayed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Current Academic Monitoring &amp; The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61872"/>
            <a:ext cx="26517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59436" cy="16916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463039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Marks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Useful for measuring performance.
Gap: may identify problems only after performance drops.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61872"/>
            <a:ext cx="26517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56432" y="1261872"/>
            <a:ext cx="59436" cy="16916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463039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Attendance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1828800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Useful indicator of engagement.
Gap: does not explain the full academic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261872"/>
            <a:ext cx="26517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261872"/>
            <a:ext cx="59436" cy="16916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463039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Manual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828800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Teachers can review multiple indicators.
Gap: difficult to scale for every student.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261872"/>
            <a:ext cx="24688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261872"/>
            <a:ext cx="59436" cy="16916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463039"/>
            <a:ext cx="2029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Single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828800"/>
            <a:ext cx="2029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One low score can be misleading.
Gap: risk needs multiple inputs.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794760"/>
            <a:ext cx="8503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794760"/>
            <a:ext cx="59436" cy="9601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3995928"/>
            <a:ext cx="8065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Identified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361688"/>
            <a:ext cx="8065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There is a need for early, data-driven academic support that combines multiple student indicators.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Convert student data into an early warning and action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71600"/>
            <a:ext cx="29718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59436" cy="20116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72768"/>
            <a:ext cx="2532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The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25328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Instead of reacting after marks fall,
identify risk earlier using multiple student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71600"/>
            <a:ext cx="29718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1371600"/>
            <a:ext cx="59436" cy="20116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572768"/>
            <a:ext cx="2532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The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38528"/>
            <a:ext cx="25328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Use a supervised ML classifier to group students into Low, Medium or High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1371600"/>
            <a:ext cx="36576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1371600"/>
            <a:ext cx="59436" cy="20116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1572768"/>
            <a:ext cx="32186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938528"/>
            <a:ext cx="321868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A risk prediction is paired with a transparent, rule-based intervention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15383"/>
            <a:ext cx="23682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2242B"/>
                </a:solidFill>
                <a:latin typeface="Aptos"/>
              </a:rPr>
              <a:t>Attendance
Marks
Assignments
Study hours
Previous %</a:t>
            </a:r>
          </a:p>
        </p:txBody>
      </p:sp>
      <p:sp>
        <p:nvSpPr>
          <p:cNvPr id="18" name="Chevron 17"/>
          <p:cNvSpPr/>
          <p:nvPr/>
        </p:nvSpPr>
        <p:spPr>
          <a:xfrm>
            <a:off x="3273551" y="4453128"/>
            <a:ext cx="201168" cy="274320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02152" y="416052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4215383"/>
            <a:ext cx="23682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2242B"/>
                </a:solidFill>
                <a:latin typeface="Aptos"/>
              </a:rPr>
              <a:t>Random Forest
Classifier</a:t>
            </a:r>
          </a:p>
        </p:txBody>
      </p:sp>
      <p:sp>
        <p:nvSpPr>
          <p:cNvPr id="21" name="Chevron 20"/>
          <p:cNvSpPr/>
          <p:nvPr/>
        </p:nvSpPr>
        <p:spPr>
          <a:xfrm>
            <a:off x="6044184" y="4453128"/>
            <a:ext cx="201168" cy="274320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2784" y="416052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4215383"/>
            <a:ext cx="23682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2242B"/>
                </a:solidFill>
                <a:latin typeface="Aptos"/>
              </a:rPr>
              <a:t>Low / Medium /
High Risk</a:t>
            </a:r>
          </a:p>
        </p:txBody>
      </p:sp>
      <p:sp>
        <p:nvSpPr>
          <p:cNvPr id="24" name="Chevron 23"/>
          <p:cNvSpPr/>
          <p:nvPr/>
        </p:nvSpPr>
        <p:spPr>
          <a:xfrm>
            <a:off x="8814815" y="4453128"/>
            <a:ext cx="201168" cy="274320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3416" y="416052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4215383"/>
            <a:ext cx="23682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2242B"/>
                </a:solidFill>
                <a:latin typeface="Aptos"/>
              </a:rPr>
              <a:t>Personalized Early
Intervention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The Early-Warning Loop connects student indicators to intervention.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066544"/>
            <a:ext cx="14538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Collect
student data</a:t>
            </a:r>
          </a:p>
        </p:txBody>
      </p:sp>
      <p:sp>
        <p:nvSpPr>
          <p:cNvPr id="6" name="Chevron 5"/>
          <p:cNvSpPr/>
          <p:nvPr/>
        </p:nvSpPr>
        <p:spPr>
          <a:xfrm>
            <a:off x="2112263" y="2295144"/>
            <a:ext cx="182880" cy="256032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22576" y="201168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5728" y="2066544"/>
            <a:ext cx="14538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Classify
risk</a:t>
            </a:r>
          </a:p>
        </p:txBody>
      </p:sp>
      <p:sp>
        <p:nvSpPr>
          <p:cNvPr id="9" name="Chevron 8"/>
          <p:cNvSpPr/>
          <p:nvPr/>
        </p:nvSpPr>
        <p:spPr>
          <a:xfrm>
            <a:off x="3931920" y="2295144"/>
            <a:ext cx="182880" cy="256032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42232" y="201168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2066544"/>
            <a:ext cx="14538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Explain
risk level</a:t>
            </a:r>
          </a:p>
        </p:txBody>
      </p:sp>
      <p:sp>
        <p:nvSpPr>
          <p:cNvPr id="12" name="Chevron 11"/>
          <p:cNvSpPr/>
          <p:nvPr/>
        </p:nvSpPr>
        <p:spPr>
          <a:xfrm>
            <a:off x="5751576" y="2295144"/>
            <a:ext cx="182880" cy="256032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61888" y="201168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066544"/>
            <a:ext cx="14538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Recommend
actions</a:t>
            </a:r>
          </a:p>
        </p:txBody>
      </p:sp>
      <p:sp>
        <p:nvSpPr>
          <p:cNvPr id="15" name="Chevron 14"/>
          <p:cNvSpPr/>
          <p:nvPr/>
        </p:nvSpPr>
        <p:spPr>
          <a:xfrm>
            <a:off x="7571231" y="2295144"/>
            <a:ext cx="182880" cy="256032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81544" y="201168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066544"/>
            <a:ext cx="14538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Support
student</a:t>
            </a:r>
          </a:p>
        </p:txBody>
      </p:sp>
      <p:sp>
        <p:nvSpPr>
          <p:cNvPr id="18" name="Chevron 17"/>
          <p:cNvSpPr/>
          <p:nvPr/>
        </p:nvSpPr>
        <p:spPr>
          <a:xfrm>
            <a:off x="9390888" y="2295144"/>
            <a:ext cx="182880" cy="256032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201168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2066544"/>
            <a:ext cx="1453896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Re-evaluate
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3886200"/>
            <a:ext cx="82753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5960" y="3886200"/>
            <a:ext cx="59436" cy="9601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79" y="4087368"/>
            <a:ext cx="7836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Prototype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79" y="4453128"/>
            <a:ext cx="7836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Prediction uses Random Forest; recommendations are rule-based for transparency and easy explanation.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Key features of the EduPredict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53312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54480"/>
            <a:ext cx="4636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Risk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4636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Low / Medium / High academic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53312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353312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54480"/>
            <a:ext cx="4636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Multi-factor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20240"/>
            <a:ext cx="4636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Attendance, marks, assignments, study hours and previous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88920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788920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90088"/>
            <a:ext cx="4636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Early 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355848"/>
            <a:ext cx="4636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Action plan generated from the student's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788920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2788920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990088"/>
            <a:ext cx="4636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355848"/>
            <a:ext cx="4636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Inputs and recommendations remain understandable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224528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224528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425696"/>
            <a:ext cx="4636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Teacher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791456"/>
            <a:ext cx="4636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Quick screening signal for academic intervention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224528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4224528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25696"/>
            <a:ext cx="4636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Scalability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791456"/>
            <a:ext cx="4636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Can later integrate with college ERP/LMS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A supervised classification model connects student inputs to an interpretable risk category.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3154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25880"/>
            <a:ext cx="59436" cy="14173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2715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92807"/>
            <a:ext cx="2715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Attendance
Internal marks
Assignment completion
Study hours
Previous percentage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154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59436" cy="14173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27048"/>
            <a:ext cx="2715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ML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92807"/>
            <a:ext cx="2715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Random Forest Classifier
Learns patterns from a prototype training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1325880"/>
            <a:ext cx="31546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07808" y="1325880"/>
            <a:ext cx="59436" cy="141732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8" y="1527048"/>
            <a:ext cx="2715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Target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1892807"/>
            <a:ext cx="2715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371"/>
                </a:solidFill>
                <a:latin typeface="Aptos"/>
              </a:rPr>
              <a:t>Low Risk
Medium Risk
High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3703320"/>
            <a:ext cx="80924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3703320"/>
            <a:ext cx="59436" cy="11430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904487"/>
            <a:ext cx="76535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Recommendation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270248"/>
            <a:ext cx="76535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Rule-based recommendations translate the predicted risk and student indicators into a clear intervention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Lightweight technologies for a fast, working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25880"/>
            <a:ext cx="59436" cy="1325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92807"/>
            <a:ext cx="21214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Core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2588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325880"/>
            <a:ext cx="59436" cy="1325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527048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892807"/>
            <a:ext cx="21214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Data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9436" cy="1325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27048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892807"/>
            <a:ext cx="21214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Machine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132588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2832" y="1325880"/>
            <a:ext cx="59436" cy="1325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1527048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892807"/>
            <a:ext cx="21214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Risk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291840"/>
            <a:ext cx="29718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3291840"/>
            <a:ext cx="59436" cy="1325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493008"/>
            <a:ext cx="2532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858768"/>
            <a:ext cx="2532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Interactive web interface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3291840"/>
            <a:ext cx="29718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3291840"/>
            <a:ext cx="59436" cy="1325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3493008"/>
            <a:ext cx="25328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Design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3858768"/>
            <a:ext cx="2532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Problem → Data → Model → Prediction →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Feasibility, Limitations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325880"/>
            <a:ext cx="338328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59436" cy="2468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27048"/>
            <a:ext cx="2944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92807"/>
            <a:ext cx="29443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B6371"/>
                </a:solidFill>
                <a:latin typeface="Aptos"/>
              </a:rPr>
              <a:t>• Lightweight Python-based stack
• Simple classification workflow
• Practical Streamlit interface
• Can scale toward ERP/LMS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325880"/>
            <a:ext cx="338328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325880"/>
            <a:ext cx="59436" cy="2468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527048"/>
            <a:ext cx="2944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1892807"/>
            <a:ext cx="29443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B6371"/>
                </a:solidFill>
                <a:latin typeface="Aptos"/>
              </a:rPr>
              <a:t>• Prototype uses a training dataset
• Recommendations are rule-based
• Real institutional data is needed for robust evaluation
• Model performance should be continuously evaluated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325880"/>
            <a:ext cx="338328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1325880"/>
            <a:ext cx="59436" cy="246888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527048"/>
            <a:ext cx="29443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Potential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892807"/>
            <a:ext cx="294436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B6371"/>
                </a:solidFill>
                <a:latin typeface="Aptos"/>
              </a:rPr>
              <a:t>• Earlier academic support
• Personalized intervention
• Faster teacher screening
• Better use of student data
• Scalable student-success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4343400"/>
            <a:ext cx="85039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4519" y="4343400"/>
            <a:ext cx="59436" cy="91440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39" y="4544568"/>
            <a:ext cx="8065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Core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39" y="4910328"/>
            <a:ext cx="80650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Change the workflow from “react after failure” to “identify risk early and intervene early.”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42B"/>
                </a:solidFill>
                <a:latin typeface="Aptos"/>
              </a:rP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371"/>
                </a:solidFill>
                <a:latin typeface="Aptos"/>
              </a:rPr>
              <a:t>A different question for academic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49834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9436" cy="1874519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18488"/>
            <a:ext cx="4544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4544568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How do we respond when a student's marks have already fallen?
Signal → Review → Delayed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9834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417320"/>
            <a:ext cx="59436" cy="1874519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18488"/>
            <a:ext cx="4544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EduPredict's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84248"/>
            <a:ext cx="4544568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What if we identify academic risk before failure becomes visible?
Data → Prediction → Intervention →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16052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215383"/>
            <a:ext cx="191109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Student data</a:t>
            </a:r>
          </a:p>
        </p:txBody>
      </p:sp>
      <p:sp>
        <p:nvSpPr>
          <p:cNvPr id="14" name="Chevron 13"/>
          <p:cNvSpPr/>
          <p:nvPr/>
        </p:nvSpPr>
        <p:spPr>
          <a:xfrm>
            <a:off x="2788920" y="4416552"/>
            <a:ext cx="173736" cy="246888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9232" y="416052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4215383"/>
            <a:ext cx="191109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Risk prediction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5074920" y="4416552"/>
            <a:ext cx="173736" cy="246888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85232" y="416052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4215383"/>
            <a:ext cx="191109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Early action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7360920" y="4416552"/>
            <a:ext cx="173736" cy="246888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71231" y="416052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4215383"/>
            <a:ext cx="191109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Improved support</a:t>
            </a:r>
          </a:p>
        </p:txBody>
      </p:sp>
      <p:sp>
        <p:nvSpPr>
          <p:cNvPr id="23" name="Chevron 22"/>
          <p:cNvSpPr/>
          <p:nvPr/>
        </p:nvSpPr>
        <p:spPr>
          <a:xfrm>
            <a:off x="9646919" y="4416552"/>
            <a:ext cx="173736" cy="246888"/>
          </a:xfrm>
          <a:prstGeom prst="chevron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57232" y="416052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4215383"/>
            <a:ext cx="191109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242B"/>
                </a:solidFill>
                <a:latin typeface="Aptos"/>
              </a:rPr>
              <a:t>Continue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22242B"/>
                </a:solidFill>
                <a:latin typeface="Aptos"/>
              </a:rPr>
              <a:t>EduPredict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74519"/>
            <a:ext cx="9875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5B47BE"/>
                </a:solidFill>
                <a:latin typeface="Aptos"/>
              </a:rPr>
              <a:t>Don't wait for a student to fail.
Identify the risk early and intervene early.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886200"/>
            <a:ext cx="32461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59436" cy="10058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87368"/>
            <a:ext cx="2807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5312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Team name /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86200"/>
            <a:ext cx="32461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886200"/>
            <a:ext cx="59436" cy="10058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4087368"/>
            <a:ext cx="2807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445312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Galgotias 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86200"/>
            <a:ext cx="32461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886200"/>
            <a:ext cx="59436" cy="1005840"/>
          </a:xfrm>
          <a:prstGeom prst="rect">
            <a:avLst/>
          </a:prstGeom>
          <a:solidFill>
            <a:srgbClr val="5B4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087368"/>
            <a:ext cx="28072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42B"/>
                </a:solidFill>
                <a:latin typeface="Aptos"/>
              </a:rPr>
              <a:t>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5312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371"/>
                </a:solidFill>
                <a:latin typeface="Aptos"/>
              </a:rPr>
              <a:t>Why this problem? Why this approach?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532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242B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46520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371"/>
                </a:solidFill>
                <a:latin typeface="Aptos"/>
              </a:rPr>
              <a:t>Logic League Ideathon  •  EduPredict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